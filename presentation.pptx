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Contexte PayShield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DD"/>
                </a:solidFill>
              </a:rPr>
              <a:t>Gestion des Vulnérabilités Assistée par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CCCCCC"/>
                </a:solidFill>
              </a:rPr>
              <a:t>• PayShield : fintech béninoise, 280 employés, 15 000 tx/jour, 1,2M utilisateurs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CCCCCC"/>
                </a:solidFill>
              </a:rPr>
              <a:t>• Suite à une alerte CERT : scan complet Nessus + OpenVAS → 35 vulnérabilités sur 10 systèmes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CCCCCC"/>
                </a:solidFill>
              </a:rPr>
              <a:t>• Risque : compromission de la base de paiement, violation PCI-DSS, impact direct utilisateurs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CCCCCC"/>
                </a:solidFill>
              </a:rPr>
              <a:t>• Problème : le score CVSS brut ne permet pas de prioriser la remédiation dans ce contexte métier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CCCCCC"/>
                </a:solidFill>
              </a:rPr>
              <a:t>• Solution : un algorithme de scoring contextuel SRC enrichissant le CVSS avec 3 facteurs PayShield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Notre Formule SRC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43000"/>
            <a:ext cx="10360152" cy="594360"/>
          </a:xfrm>
          <a:prstGeom prst="rect">
            <a:avLst/>
          </a:prstGeom>
          <a:solidFill>
            <a:srgbClr val="16213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74C3C"/>
                </a:solidFill>
              </a:rPr>
              <a:t>SRC(v)  =  CVSS × W_exposition × W_criticité × W_données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2103120" cy="384048"/>
          </a:xfrm>
          <a:prstGeom prst="rect">
            <a:avLst/>
          </a:prstGeom>
          <a:solidFill>
            <a:srgbClr val="E74C3C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911095"/>
            <a:ext cx="1956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Facteur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874519"/>
            <a:ext cx="4114800" cy="384048"/>
          </a:xfrm>
          <a:prstGeom prst="rect">
            <a:avLst/>
          </a:prstGeom>
          <a:solidFill>
            <a:srgbClr val="E74C3C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6312" y="1911095"/>
            <a:ext cx="3968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Valeurs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874519"/>
            <a:ext cx="5303520" cy="384048"/>
          </a:xfrm>
          <a:prstGeom prst="rect">
            <a:avLst/>
          </a:prstGeom>
          <a:solidFill>
            <a:srgbClr val="E74C3C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911095"/>
            <a:ext cx="5157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Justification métier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86000"/>
            <a:ext cx="210312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2322576"/>
            <a:ext cx="1956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Exposition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2286000"/>
            <a:ext cx="411480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2" y="2322576"/>
            <a:ext cx="3968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Internet ×2.0  /  DMZ ×1.5  /  Interne ×1.0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286000"/>
            <a:ext cx="530352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2322576"/>
            <a:ext cx="5157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Une faille accessible depuis Internet = risque d'exploitation immédiat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697480"/>
            <a:ext cx="210312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734056"/>
            <a:ext cx="1956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Criticité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60" y="2697480"/>
            <a:ext cx="411480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96312" y="2734056"/>
            <a:ext cx="3968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Critique ×2.0  /  Élevée ×1.5  /  Moyenne ×1.0  /  Faible ×0.5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697480"/>
            <a:ext cx="530352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2734056"/>
            <a:ext cx="5157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La BDD paiement (Critique) ne peut pas être traitée comme dev-env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108960"/>
            <a:ext cx="210312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145536"/>
            <a:ext cx="19568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Données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3108960"/>
            <a:ext cx="411480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6312" y="3145536"/>
            <a:ext cx="39684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Sensible ×1.5  /  Interne ×1.0  /  Public ×0.5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108960"/>
            <a:ext cx="530352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3145536"/>
            <a:ext cx="51572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KYC et transactions paiement = données à protéger en priorité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703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980B9"/>
                </a:solidFill>
              </a:rPr>
              <a:t>SRC_norm = SRC / max(SRC) × 10   →   score normalisé 0–10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Top 10 — Résultats SRC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980B9"/>
                </a:solidFill>
              </a:rPr>
              <a:t>Les 3 vulnérabilités prioritaires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3749039" cy="4114800"/>
          </a:xfrm>
          <a:prstGeom prst="rect">
            <a:avLst/>
          </a:prstGeom>
          <a:solidFill>
            <a:srgbClr val="16213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640080" cy="4754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545336"/>
            <a:ext cx="566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V01 — OpenSSL (Heartbleed)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IP: 10.0.0.10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81528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74C3C"/>
                </a:solidFill>
              </a:rPr>
              <a:t>CVSS 10.0   SRC 10.0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30168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980B9"/>
                </a:solidFill>
              </a:rPr>
              <a:t>Internet / Critique / Sensible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78808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Fuite mémoire SSL — clés TLS et tokens de session exposés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3" y="1508760"/>
            <a:ext cx="3749039" cy="4114800"/>
          </a:xfrm>
          <a:prstGeom prst="rect">
            <a:avLst/>
          </a:prstGeom>
          <a:solidFill>
            <a:srgbClr val="16213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3" y="1508760"/>
            <a:ext cx="640080" cy="4754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1545336"/>
            <a:ext cx="566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3" y="205740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V02 — Apache 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3" y="260604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IP: 10.0.0.10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3" y="3081528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74C3C"/>
                </a:solidFill>
              </a:rPr>
              <a:t>CVSS 9.8   SRC 9.80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3" y="3630168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980B9"/>
                </a:solidFill>
              </a:rPr>
              <a:t>Internet / Critique / Sensible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2543" y="4178808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Path traversal sans auth — exécution de commandes distantes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47886" y="1508760"/>
            <a:ext cx="3749039" cy="4114800"/>
          </a:xfrm>
          <a:prstGeom prst="rect">
            <a:avLst/>
          </a:prstGeom>
          <a:solidFill>
            <a:srgbClr val="16213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47886" y="1508760"/>
            <a:ext cx="640080" cy="4754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2" y="1545336"/>
            <a:ext cx="566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#3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6" y="205740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V34 — Kubernetes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6" y="2606040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IP: 10.0.0.10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6" y="3081528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74C3C"/>
                </a:solidFill>
              </a:rPr>
              <a:t>CVSS 9.8   SRC 9.80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6" y="3630168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980B9"/>
                </a:solidFill>
              </a:rPr>
              <a:t>Internet / Critique / Sensible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6" y="4178808"/>
            <a:ext cx="35661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API non authentifiée — prise de contrôle du cluster de paiement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Pourquoi le CVSS Seul ne Suffit 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1612880" cy="347472"/>
          </a:xfrm>
          <a:prstGeom prst="rect">
            <a:avLst/>
          </a:prstGeom>
          <a:solidFill>
            <a:srgbClr val="0F3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22529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980B9"/>
                </a:solidFill>
              </a:rPr>
              <a:t>Le problème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36192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</a:rPr>
              <a:t>• V05 (PostgreSQL, CVSS 10) et V35 (Confluence, CVSS 10) — même score, risques très différents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</a:rPr>
              <a:t>• CVSS ignore : exposition réseau, criticité système, sensibilité des données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679192"/>
            <a:ext cx="11612880" cy="347472"/>
          </a:xfrm>
          <a:prstGeom prst="rect">
            <a:avLst/>
          </a:prstGeom>
          <a:solidFill>
            <a:srgbClr val="0F3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27157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980B9"/>
                </a:solidFill>
              </a:rPr>
              <a:t>Expérience A — Impact des coefficients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26664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</a:rPr>
              <a:t>• Config Base vs Config Alt : Internet ×2.0→×3.0, Sensible ×1.5→×2.0, Interne ×1.0→×0.5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</a:rPr>
              <a:t>• Résultat : même Top 10, mais scores internes s'effondrent — V05 passe de 5.0 → 1.67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169664"/>
            <a:ext cx="11612880" cy="347472"/>
          </a:xfrm>
          <a:prstGeom prst="rect">
            <a:avLst/>
          </a:prstGeom>
          <a:solidFill>
            <a:srgbClr val="0F3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4206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980B9"/>
                </a:solidFill>
              </a:rPr>
              <a:t>Anomalie identifiée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17136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</a:rPr>
              <a:t>• V05 (PostgreSQL BDD paiement, CVSS 10) classé 11e — hors Top 10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</a:rPr>
              <a:t>• Cause : malus exposition Interne (×1.0) pénalise la BDD de paiement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CCCC"/>
                </a:solidFill>
              </a:rPr>
              <a:t>• Correction : intégrer l'EPSS → SRC_v2 = SRC × (1 + epss)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SRC V3 — EPSS + KEV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43000"/>
            <a:ext cx="10360152" cy="594360"/>
          </a:xfrm>
          <a:prstGeom prst="rect">
            <a:avLst/>
          </a:prstGeom>
          <a:solidFill>
            <a:srgbClr val="16213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74C3C"/>
                </a:solidFill>
              </a:rPr>
              <a:t>SRC_v3  =  SRC × (1 + epss) × (1 + 1.5 × kev)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5760720" cy="822960"/>
          </a:xfrm>
          <a:prstGeom prst="rect">
            <a:avLst/>
          </a:prstGeom>
          <a:solidFill>
            <a:srgbClr val="0F3C56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(1 + epss) : probabilité d'exploitation dans 30 jours.
Ex: EPSS 0.97 → ×1.97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874519"/>
            <a:ext cx="5760720" cy="822960"/>
          </a:xfrm>
          <a:prstGeom prst="rect">
            <a:avLst/>
          </a:prstGeom>
          <a:solidFill>
            <a:srgbClr val="0F3C56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920240"/>
            <a:ext cx="5577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(1 + 1.5 × kev) : exploit actif CISA KEV.
KEV=1 → ×2.5  /  KEV=0 → inchangé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34640"/>
            <a:ext cx="2286000" cy="384048"/>
          </a:xfrm>
          <a:prstGeom prst="rect">
            <a:avLst/>
          </a:prstGeom>
          <a:solidFill>
            <a:srgbClr val="E74C3C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871216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Version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2834640"/>
            <a:ext cx="3200400" cy="384048"/>
          </a:xfrm>
          <a:prstGeom prst="rect">
            <a:avLst/>
          </a:prstGeom>
          <a:solidFill>
            <a:srgbClr val="E74C3C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2871216"/>
            <a:ext cx="3054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Formule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2834640"/>
            <a:ext cx="6035040" cy="384048"/>
          </a:xfrm>
          <a:prstGeom prst="rect">
            <a:avLst/>
          </a:prstGeom>
          <a:solidFill>
            <a:srgbClr val="E74C3C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5312" y="2871216"/>
            <a:ext cx="5888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Impact sur V35 Confluence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36976"/>
            <a:ext cx="228600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3273552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V1 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3236976"/>
            <a:ext cx="320040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9192" y="3273552"/>
            <a:ext cx="3054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SRC = CVSS × 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3236976"/>
            <a:ext cx="603504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25312" y="3273552"/>
            <a:ext cx="5888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Rang 26e — ignoré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639312"/>
            <a:ext cx="228600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3675888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V2 EPSS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3639312"/>
            <a:ext cx="320040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9192" y="3675888"/>
            <a:ext cx="3054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SRC × (1+epss)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3639312"/>
            <a:ext cx="603504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25312" y="3675888"/>
            <a:ext cx="5888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Rang amélioré — EPSS 0.94 pris en compte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041648"/>
            <a:ext cx="228600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4078224"/>
            <a:ext cx="21396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V3 EPSS+KEV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4041648"/>
            <a:ext cx="320040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79192" y="4078224"/>
            <a:ext cx="305409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SRC × (1+epss) × (1+1.5×kev)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4041648"/>
            <a:ext cx="6035040" cy="384048"/>
          </a:xfrm>
          <a:prstGeom prst="rect">
            <a:avLst/>
          </a:prstGeom>
          <a:solidFill>
            <a:srgbClr val="16213E"/>
          </a:solidFill>
          <a:ln w="6350">
            <a:solidFill>
              <a:srgbClr val="44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25312" y="4078224"/>
            <a:ext cx="5888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Remonte significativement — KEV=1 × 2.5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980B9"/>
                </a:solidFill>
              </a:rPr>
              <a:t>Limite : EPSS et KEV ne couvrent pas toutes les CVE — données manquantes possibles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Plan de Remédiation J+7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DDD"/>
                </a:solidFill>
              </a:rPr>
              <a:t>3 actions immédiates — sans ces actions, PayShield reste exposé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1234440"/>
            <a:ext cx="3657600" cy="3566160"/>
          </a:xfrm>
          <a:prstGeom prst="rect">
            <a:avLst/>
          </a:prstGeom>
          <a:solidFill>
            <a:srgbClr val="16213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1234440"/>
            <a:ext cx="36576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2893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1801368"/>
            <a:ext cx="34381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Patcher OpenSSL sur pay-api (10.0.0.10)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26974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980B9"/>
                </a:solidFill>
              </a:rPr>
              <a:t>Responsable : Équipe DevOps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3154680"/>
            <a:ext cx="3438144" cy="1463040"/>
          </a:xfrm>
          <a:prstGeom prst="rect">
            <a:avLst/>
          </a:prstGeom>
          <a:solidFill>
            <a:srgbClr val="3D101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3227832"/>
            <a:ext cx="32918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Impact si non fait : Fuite de clés TLS et tokens — 1,2M comptes compromis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234440"/>
            <a:ext cx="3657600" cy="3566160"/>
          </a:xfrm>
          <a:prstGeom prst="rect">
            <a:avLst/>
          </a:prstGeom>
          <a:solidFill>
            <a:srgbClr val="16213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0248" y="1234440"/>
            <a:ext cx="36576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2893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Action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1801368"/>
            <a:ext cx="34381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Définir mot de passe PostgreSQL sur db-prod (10.0.0.15)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6974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980B9"/>
                </a:solidFill>
              </a:rPr>
              <a:t>Responsable : DBA + RSSI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9976" y="3154680"/>
            <a:ext cx="3438144" cy="1463040"/>
          </a:xfrm>
          <a:prstGeom prst="rect">
            <a:avLst/>
          </a:prstGeom>
          <a:solidFill>
            <a:srgbClr val="3D101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227832"/>
            <a:ext cx="32918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Impact si non fait : Accès root BDD paiement — vol de toutes les transactions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02168" y="1234440"/>
            <a:ext cx="3657600" cy="3566160"/>
          </a:xfrm>
          <a:prstGeom prst="rect">
            <a:avLst/>
          </a:prstGeom>
          <a:solidFill>
            <a:srgbClr val="16213E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02168" y="1234440"/>
            <a:ext cx="36576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28930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Action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1801368"/>
            <a:ext cx="34381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Isoler l'API Kubernetes du réseau public (10.0.0.10)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6974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980B9"/>
                </a:solidFill>
              </a:rPr>
              <a:t>Responsable : Équipe Cloud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11896" y="3154680"/>
            <a:ext cx="3438144" cy="1463040"/>
          </a:xfrm>
          <a:prstGeom prst="rect">
            <a:avLst/>
          </a:prstGeom>
          <a:solidFill>
            <a:srgbClr val="3D101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8" y="3227832"/>
            <a:ext cx="329184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Impact si non fait : Prise de contrôle du cluster — déploiement de code malveillant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83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</a:rPr>
              <a:t>J+30 : Keycloak, pfSense, fail2ban   |   J+90 : WAF, segmentation réseau, politique IAM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